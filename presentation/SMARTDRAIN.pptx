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6" r:id="rId4"/>
    <p:sldId id="258" r:id="rId5"/>
    <p:sldId id="259" r:id="rId6"/>
    <p:sldId id="260" r:id="rId7"/>
    <p:sldId id="268" r:id="rId8"/>
    <p:sldId id="270" r:id="rId9"/>
    <p:sldId id="261" r:id="rId10"/>
    <p:sldId id="262" r:id="rId11"/>
    <p:sldId id="263" r:id="rId12"/>
    <p:sldId id="264" r:id="rId13"/>
    <p:sldId id="267" r:id="rId14"/>
    <p:sldId id="269" r:id="rId15"/>
    <p:sldId id="265" r:id="rId16"/>
  </p:sldIdLst>
  <p:sldSz cx="12192000" cy="6858000"/>
  <p:notesSz cx="6858000" cy="12192000"/>
  <p:embeddedFontLst>
    <p:embeddedFont>
      <p:font typeface="Arial Rounded MT Bold" panose="020F0704030504030204" pitchFamily="34" charset="0"/>
      <p:regular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Open Sans" panose="020B0606030504020204" pitchFamily="34" charset="0"/>
      <p:regular r:id="rId23"/>
    </p:embeddedFont>
    <p:embeddedFont>
      <p:font typeface="Open Sans Bold" panose="020B0806030504020204" charset="0"/>
      <p:regular r:id="rId24"/>
    </p:embeddedFont>
    <p:embeddedFont>
      <p:font typeface="Playfair Display Bold" panose="020B0604020202020204" charset="0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 Ashok Kumar Kashyap" userId="5b7bfd3276e28b71" providerId="LiveId" clId="{C62616A9-2DB4-4F54-AA38-46BD6DAA188D}"/>
    <pc:docChg chg="addSld modSld">
      <pc:chgData name="Dr Ashok Kumar Kashyap" userId="5b7bfd3276e28b71" providerId="LiveId" clId="{C62616A9-2DB4-4F54-AA38-46BD6DAA188D}" dt="2026-09-06T10:08:25.037" v="55" actId="20577"/>
      <pc:docMkLst>
        <pc:docMk/>
      </pc:docMkLst>
      <pc:sldChg chg="modSp mod">
        <pc:chgData name="Dr Ashok Kumar Kashyap" userId="5b7bfd3276e28b71" providerId="LiveId" clId="{C62616A9-2DB4-4F54-AA38-46BD6DAA188D}" dt="2026-09-06T10:08:25.037" v="55" actId="20577"/>
        <pc:sldMkLst>
          <pc:docMk/>
          <pc:sldMk cId="0" sldId="256"/>
        </pc:sldMkLst>
        <pc:spChg chg="mod">
          <ac:chgData name="Dr Ashok Kumar Kashyap" userId="5b7bfd3276e28b71" providerId="LiveId" clId="{C62616A9-2DB4-4F54-AA38-46BD6DAA188D}" dt="2026-09-06T10:08:25.037" v="55" actId="20577"/>
          <ac:spMkLst>
            <pc:docMk/>
            <pc:sldMk cId="0" sldId="256"/>
            <ac:spMk id="4" creationId="{00000000-0000-0000-0000-000000000000}"/>
          </ac:spMkLst>
        </pc:spChg>
      </pc:sldChg>
      <pc:sldChg chg="addSp new mod">
        <pc:chgData name="Dr Ashok Kumar Kashyap" userId="5b7bfd3276e28b71" providerId="LiveId" clId="{C62616A9-2DB4-4F54-AA38-46BD6DAA188D}" dt="2026-08-25T05:08:56.810" v="1" actId="22"/>
        <pc:sldMkLst>
          <pc:docMk/>
          <pc:sldMk cId="3347039684" sldId="270"/>
        </pc:sldMkLst>
        <pc:picChg chg="add">
          <ac:chgData name="Dr Ashok Kumar Kashyap" userId="5b7bfd3276e28b71" providerId="LiveId" clId="{C62616A9-2DB4-4F54-AA38-46BD6DAA188D}" dt="2026-08-25T05:08:56.810" v="1" actId="22"/>
          <ac:picMkLst>
            <pc:docMk/>
            <pc:sldMk cId="3347039684" sldId="270"/>
            <ac:picMk id="3" creationId="{6F0EF03D-8C23-E334-1F4D-74B3A971816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837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patents.google.com/patent/US12230116B2/en?utm_source=chatgpt.com" TargetMode="External"/><Relationship Id="rId2" Type="http://schemas.openxmlformats.org/officeDocument/2006/relationships/hyperlink" Target="https://patents.google.com/patent/US11721191B1/en?utm_source=chatgpt.com" TargetMode="Externa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tents.google.com/patent/TW202223208A/en?utm_source=chatgpt.com" TargetMode="External"/><Relationship Id="rId4" Type="http://schemas.openxmlformats.org/officeDocument/2006/relationships/hyperlink" Target="https://patents.google.com/patent/CN109814462B/en?utm_source=chatgpt.com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6273" y="52079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SMARTDRAIN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66273" y="1167123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Predictive Urban Drainage Monitoring &amp; Early Warning System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474" y="2072116"/>
            <a:ext cx="10868745" cy="45238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"Monitor Drainage. Predict Risk. Prioritize Action."</a:t>
            </a:r>
            <a:endParaRPr lang="en-US" sz="1300" dirty="0"/>
          </a:p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</a:t>
            </a:r>
            <a:r>
              <a:rPr lang="en-US" sz="13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Team Members: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</a:t>
            </a:r>
          </a:p>
          <a:p>
            <a:pPr marL="285750" indent="-285750" algn="l">
              <a:spcAft>
                <a:spcPts val="145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Ojas Kumar Kashyap (25BCE0721) </a:t>
            </a:r>
          </a:p>
          <a:p>
            <a:pPr marL="285750" indent="-285750" algn="l">
              <a:spcAft>
                <a:spcPts val="1450"/>
              </a:spcAft>
              <a:buFont typeface="Arial" panose="020B0604020202020204" pitchFamily="34" charset="0"/>
              <a:buChar char="•"/>
            </a:pPr>
            <a:r>
              <a:rPr lang="en-US" sz="1300" dirty="0" err="1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Iraban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Bhattacharya (25BCE2169)</a:t>
            </a:r>
          </a:p>
          <a:p>
            <a:pPr marL="285750" indent="-285750" algn="l">
              <a:spcAft>
                <a:spcPts val="145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Asutosh Aum (25BEC0275)</a:t>
            </a:r>
          </a:p>
          <a:p>
            <a:pPr marL="285750" indent="-285750" algn="l">
              <a:spcAft>
                <a:spcPts val="145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Dhruv Patel (25BEC0308</a:t>
            </a:r>
            <a:r>
              <a:rPr lang="en-US" sz="130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 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EABBE0-0CDC-952B-9F36-108929123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170" y="2348856"/>
            <a:ext cx="6215123" cy="34944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1283368"/>
            <a:ext cx="5093958" cy="38923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51780"/>
            <a:ext cx="6296860" cy="468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Urban Drainage: A Reactive Problem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1423888"/>
            <a:ext cx="62968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Urban flooding arises from heavy rainfall compounded by blocked or partially blocked storm-water drains — plastic waste, leaves, silt and debris reducing conveyance. Municipal responses are largely complaint-driven and manual. 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262485"/>
            <a:ext cx="3080467" cy="312945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78425" y="2431355"/>
            <a:ext cx="2666536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Typical Sequence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5478425" y="2746970"/>
            <a:ext cx="26665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Drain blockage → Water accumulation → Public complaint → Manual inspection → Cleaning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9654" y="2262485"/>
            <a:ext cx="3080566" cy="312945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694718" y="2431355"/>
            <a:ext cx="2666636" cy="234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Limitations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694718" y="2746970"/>
            <a:ext cx="2666636" cy="2476103"/>
          </a:xfrm>
          <a:prstGeom prst="rect">
            <a:avLst/>
          </a:prstGeom>
          <a:noFill/>
          <a:ln/>
        </p:spPr>
        <p:txBody>
          <a:bodyPr wrap="square" lIns="0" tIns="59954" rIns="0" bIns="0" rtlCol="0" anchor="t">
            <a:normAutofit/>
          </a:bodyPr>
          <a:lstStyle/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 continuous drain condition monitoring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Blockages remain unseen until visible flooding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Water-level alone does not reveal cause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Limited municipal inspection capacity</a:t>
            </a:r>
            <a:endParaRPr lang="en-US" sz="1150" dirty="0"/>
          </a:p>
          <a:p>
            <a:pPr marL="233680" indent="-233680" algn="l">
              <a:lnSpc>
                <a:spcPct val="12700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Maintenance is reactive, causing higher cost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5233360" y="5544741"/>
            <a:ext cx="6296860" cy="561479"/>
          </a:xfrm>
          <a:prstGeom prst="roundRect">
            <a:avLst>
              <a:gd name="adj" fmla="val 4004"/>
            </a:avLst>
          </a:prstGeom>
          <a:solidFill>
            <a:srgbClr val="B6D6FC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3177" y="5739209"/>
            <a:ext cx="187320" cy="1498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720314" y="5717977"/>
            <a:ext cx="626967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Emphasis: "Can we identify high-risk drains BEFORE severe overflow occurs?"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66B5AFB-04F5-968E-E61F-E351D1886185}"/>
              </a:ext>
            </a:extLst>
          </p:cNvPr>
          <p:cNvSpPr txBox="1"/>
          <p:nvPr/>
        </p:nvSpPr>
        <p:spPr>
          <a:xfrm>
            <a:off x="464361" y="324853"/>
            <a:ext cx="32592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Playfair Display Bold" panose="020B0604020202020204" charset="0"/>
              </a:rPr>
              <a:t>Proposed Solution</a:t>
            </a:r>
            <a:endParaRPr lang="en-IN" sz="2800" b="1" dirty="0">
              <a:latin typeface="Playfair Display Bold" panose="020B060402020202020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DCAAD-7C77-5296-7B7D-8BF23025085E}"/>
              </a:ext>
            </a:extLst>
          </p:cNvPr>
          <p:cNvSpPr txBox="1"/>
          <p:nvPr/>
        </p:nvSpPr>
        <p:spPr>
          <a:xfrm>
            <a:off x="464360" y="848073"/>
            <a:ext cx="93935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 distributed IoT-based drainage monitoring system that detects abnormal drainage behaviour at critical points and prioritizes intervention before localized blockage develops into large-area water accumulation.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6BF383-17A5-C168-9D9B-9FCE5F17D6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941094" y="1837937"/>
            <a:ext cx="8309811" cy="4536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614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01328"/>
            <a:ext cx="10868745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SmartDrain — From Reactive Maintenance to Predictive Action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465487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SmartDrain is an IoT + Weather Intelligence + GIS-based predictive maintenance system that uses multi-parameter, rule-based risk assessment to surface high-priority drains for inspection.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180755"/>
            <a:ext cx="1010617" cy="101064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8759" y="3180755"/>
            <a:ext cx="2267786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Water-Level &amp; Flow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878759" y="3796903"/>
            <a:ext cx="226778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Sensors capture level, flow-rate and rate-of-rise at the drain throat.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3213" y="3180755"/>
            <a:ext cx="1010617" cy="10106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70497" y="3180755"/>
            <a:ext cx="22678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Weather Forecast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5570497" y="3538438"/>
            <a:ext cx="226788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Location-specific short-term precipitation forecasts (1–3 hour windows) are integrated server-side.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5050" y="3180755"/>
            <a:ext cx="1010617" cy="101064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262335" y="3180755"/>
            <a:ext cx="226788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Historical Drainage Records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9262335" y="3796903"/>
            <a:ext cx="2267885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Last cleaning dates, past blockage incidents and drain attributes inform risk calibration.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661475" y="5041404"/>
            <a:ext cx="10868745" cy="715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Core flow: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SENSE → ANALYZE → ASSESS RISK → VISUALIZE → ACT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highlight>
                  <a:srgbClr val="00FFFF"/>
                </a:highlight>
                <a:latin typeface="Open Sans" pitchFamily="34" charset="0"/>
                <a:ea typeface="Open Sans" pitchFamily="34" charset="-122"/>
                <a:cs typeface="Open Sans" pitchFamily="34" charset="-120"/>
              </a:rPr>
              <a:t>Example UI (SAMPLE): Drain D-04 Blockage Risk: 87% · Overflow Risk: 76% · Status: HIGH PRIORITY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2231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Objectives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661475" y="1569740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4" name="Text 2"/>
          <p:cNvSpPr/>
          <p:nvPr/>
        </p:nvSpPr>
        <p:spPr>
          <a:xfrm>
            <a:off x="826769" y="173503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Continuous Monitoring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6769" y="2092722"/>
            <a:ext cx="31820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critical drainage points 24/7.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39422" y="1569740"/>
            <a:ext cx="3512752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7" name="Text 5"/>
          <p:cNvSpPr/>
          <p:nvPr/>
        </p:nvSpPr>
        <p:spPr>
          <a:xfrm>
            <a:off x="4504716" y="1735038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Hydrology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04716" y="2092722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Measure water level, flow and rate-of-rise.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7468" y="1569740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0" name="Text 8"/>
          <p:cNvSpPr/>
          <p:nvPr/>
        </p:nvSpPr>
        <p:spPr>
          <a:xfrm>
            <a:off x="8182762" y="1735038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Weather Integration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82762" y="2092722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Ingest location-specific precipitation forecasts.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475" y="2952552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3" name="Text 11"/>
          <p:cNvSpPr/>
          <p:nvPr/>
        </p:nvSpPr>
        <p:spPr>
          <a:xfrm>
            <a:off x="826769" y="311785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Rule-Based Assessment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6769" y="3475534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Multi-parameter rules identify abnormal behaviour.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339422" y="2952552"/>
            <a:ext cx="3512752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6" name="Text 14"/>
          <p:cNvSpPr/>
          <p:nvPr/>
        </p:nvSpPr>
        <p:spPr>
          <a:xfrm>
            <a:off x="4504716" y="3117850"/>
            <a:ext cx="318216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GIS Visualization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04716" y="3475534"/>
            <a:ext cx="318216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Map-based city-wide risk view and drill-down details.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17468" y="2952552"/>
            <a:ext cx="3512653" cy="1217513"/>
          </a:xfrm>
          <a:prstGeom prst="roundRect">
            <a:avLst>
              <a:gd name="adj" fmla="val 2038"/>
            </a:avLst>
          </a:prstGeom>
          <a:solidFill>
            <a:srgbClr val="E0E0EC"/>
          </a:solidFill>
          <a:ln/>
        </p:spPr>
      </p:sp>
      <p:sp>
        <p:nvSpPr>
          <p:cNvPr id="19" name="Text 17"/>
          <p:cNvSpPr/>
          <p:nvPr/>
        </p:nvSpPr>
        <p:spPr>
          <a:xfrm>
            <a:off x="8182762" y="3117850"/>
            <a:ext cx="318206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Prioritised Action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82762" y="3475534"/>
            <a:ext cx="31820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Rank drains for inspection and preventive cleaning.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61475" y="4335363"/>
            <a:ext cx="10868646" cy="952897"/>
          </a:xfrm>
          <a:prstGeom prst="roundRect">
            <a:avLst>
              <a:gd name="adj" fmla="val 2603"/>
            </a:avLst>
          </a:prstGeom>
          <a:solidFill>
            <a:srgbClr val="E0E0EC"/>
          </a:solidFill>
          <a:ln/>
        </p:spPr>
      </p:sp>
      <p:sp>
        <p:nvSpPr>
          <p:cNvPr id="22" name="Text 20"/>
          <p:cNvSpPr/>
          <p:nvPr/>
        </p:nvSpPr>
        <p:spPr>
          <a:xfrm>
            <a:off x="826769" y="4500662"/>
            <a:ext cx="1053805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Low-Cost Prototype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6769" y="4858345"/>
            <a:ext cx="1053805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Affordable hardware &amp; scalable architecture for pilots.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61475" y="5474295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E3E3E8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714008"/>
            <a:ext cx="206667" cy="16529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198731" y="5680869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 from reactive drainage cleaning to data-driven preventive maintenance.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232" y="1638201"/>
            <a:ext cx="5036554" cy="335770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474663"/>
            <a:ext cx="6296860" cy="508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How Drainage Risk is Calculated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33360" y="1383903"/>
            <a:ext cx="1811887" cy="5085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Real-Time Sensor Data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233360" y="2052737"/>
            <a:ext cx="1811887" cy="1977430"/>
          </a:xfrm>
          <a:prstGeom prst="rect">
            <a:avLst/>
          </a:prstGeom>
          <a:noFill/>
          <a:ln/>
        </p:spPr>
        <p:txBody>
          <a:bodyPr wrap="square" lIns="0" tIns="65123" rIns="0" bIns="0" rtlCol="0" anchor="t">
            <a:normAutofit/>
          </a:bodyPr>
          <a:lstStyle/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 level (absolute)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Flow rate (L/min)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Rate of water-level rise (cm/min)</a:t>
            </a:r>
            <a:endParaRPr lang="en-US" sz="1250" dirty="0"/>
          </a:p>
          <a:p>
            <a:pPr marL="254000" indent="-254000" algn="l">
              <a:lnSpc>
                <a:spcPct val="132000"/>
              </a:lnSpc>
              <a:buSzPct val="100000"/>
              <a:buChar char="•"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health metrics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448661" y="1383903"/>
            <a:ext cx="1878858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Weather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48661" y="1798439"/>
            <a:ext cx="1878858" cy="1292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Location-specific precipitation forecast (Next 1 hour, Next 3 hours) — intensity and duration.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9730933" y="1383903"/>
            <a:ext cx="1811887" cy="254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Historical Data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730933" y="1798439"/>
            <a:ext cx="1811887" cy="1033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Past blockage incidents, last-clean date, drain diameter &amp; slope, upstream connectivity.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233360" y="4266505"/>
            <a:ext cx="6296860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The engine assigns weighted contributions from each parameter and outputs a normalized risk score. Prototype bands (subject to calibration): 0–30 LOW · 30–60 MEDIUM · 60–80 HIGH · 80–100 CRITICAL. 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233360" y="5222180"/>
            <a:ext cx="6296860" cy="1161157"/>
          </a:xfrm>
          <a:prstGeom prst="roundRect">
            <a:avLst>
              <a:gd name="adj" fmla="val 2103"/>
            </a:avLst>
          </a:prstGeom>
          <a:solidFill>
            <a:srgbClr val="E3E3E8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6075" y="5452170"/>
            <a:ext cx="203493" cy="1627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2282" y="5423098"/>
            <a:ext cx="560522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Score (conceptual): combination of Water-Level Factor, Flow Anomaly Factor, Level-Rise Factor, Forecast Rainfall Factor, Historical Risk Factor. Weights are experimentally adjustable.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ED2255-00F1-1BF9-54E9-00B6528D2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547" y="966526"/>
            <a:ext cx="7964905" cy="56202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6D17023-651C-6C6F-D10B-FADCF2BB98A5}"/>
              </a:ext>
            </a:extLst>
          </p:cNvPr>
          <p:cNvSpPr txBox="1"/>
          <p:nvPr/>
        </p:nvSpPr>
        <p:spPr>
          <a:xfrm>
            <a:off x="457201" y="261737"/>
            <a:ext cx="26469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/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4255912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0EF03D-8C23-E334-1F4D-74B3A9718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66762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0396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System Architecture — Edge to Cloud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4" y="713284"/>
            <a:ext cx="10868745" cy="497413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22865" y="1486483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Server &amp; Application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622865" y="1872511"/>
            <a:ext cx="2650038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API, DB, weather, risk engine, GIS alerts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50578" y="3121426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 Layer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18521" y="3507454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r">
              <a:lnSpc>
                <a:spcPct val="78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ESP32: sampling, filter, averaging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22865" y="4055775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Physical Layer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22865" y="4441803"/>
            <a:ext cx="2650038" cy="180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78000"/>
              </a:lnSpc>
              <a:buNone/>
            </a:pPr>
            <a:r>
              <a:rPr lang="en-US" sz="15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Drain sensors: level and flow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61475" y="5664131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Visual containers: PHYSICAL LAYER · EDGE LAYER · COMMUNICATION · SERVER LAYER · APPLICATION LAYER. ESP32 performs lightweight preprocessing; backend handles storage, weather integration, multi-parameter scoring, GIS services and dashboard delivery. 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566237" y="5889724"/>
            <a:ext cx="5413736" cy="897830"/>
          </a:xfrm>
          <a:prstGeom prst="roundRect">
            <a:avLst>
              <a:gd name="adj" fmla="val 1382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29785" y="5955733"/>
            <a:ext cx="522304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ESP32 Edge Responsibilities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11614" y="6078292"/>
            <a:ext cx="5223042" cy="553145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sampling at configurable intervals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Noise filtering (median / moving average)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Averaging and rate-of-rise calculation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Sensor health &amp; battery telemetry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Package JSON payload; resend if ACK not received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198313" y="5895234"/>
            <a:ext cx="5413736" cy="897830"/>
          </a:xfrm>
          <a:prstGeom prst="roundRect">
            <a:avLst>
              <a:gd name="adj" fmla="val 1382"/>
            </a:avLst>
          </a:prstGeom>
          <a:solidFill>
            <a:srgbClr val="F3F3F7"/>
          </a:solidFill>
          <a:ln w="12700">
            <a:solidFill>
              <a:srgbClr val="C6C6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39173" y="5942597"/>
            <a:ext cx="5223042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Server Responsibilities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280033" y="6062067"/>
            <a:ext cx="5223042" cy="553145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Time-series storage (per Drain_ID)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 API polling and caching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Rule-based scoring engine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GIS tile &amp; marker management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Alert / notification generation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4819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End-to-End Working Workflow</a:t>
            </a:r>
            <a:endParaRPr lang="en-US" sz="1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15" y="795933"/>
            <a:ext cx="8397566" cy="57872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07337" y="4396954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Sense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062857" y="1966716"/>
            <a:ext cx="2369380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Edge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653426" y="5108703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Transmit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690461" y="2606458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Store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-2242139" y="5707892"/>
            <a:ext cx="114783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Example JSON payload (SAMPLE): </a:t>
            </a:r>
            <a:r>
              <a:rPr lang="en-US" sz="65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{ "Drain_ID":"D02", "Water_Level_cm":56.2, "Rise_Rate_cpm":4.1, "Flow_Lpm":0.42, "TS":"2026-08-21T09:12:00Z" }</a:t>
            </a: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endParaRPr lang="en-US" sz="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50" y="5216779"/>
            <a:ext cx="5421276" cy="61902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896" y="5196956"/>
            <a:ext cx="530053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Map Status Mapping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352896" y="5479044"/>
            <a:ext cx="5300530" cy="99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GREEN → LOW · YELLOW → MEDIUM · ORANGE → HIGH · RED → CRITICAL</a:t>
            </a:r>
            <a:endParaRPr lang="en-US" sz="6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2150" y="6005888"/>
            <a:ext cx="5421276" cy="6190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52896" y="5918454"/>
            <a:ext cx="5300530" cy="129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Recommended Actions</a:t>
            </a:r>
            <a:endParaRPr lang="en-US" sz="800" dirty="0"/>
          </a:p>
        </p:txBody>
      </p:sp>
      <p:sp>
        <p:nvSpPr>
          <p:cNvPr id="14" name="Text 9"/>
          <p:cNvSpPr/>
          <p:nvPr/>
        </p:nvSpPr>
        <p:spPr>
          <a:xfrm>
            <a:off x="292523" y="6100511"/>
            <a:ext cx="5300530" cy="439638"/>
          </a:xfrm>
          <a:prstGeom prst="rect">
            <a:avLst/>
          </a:prstGeom>
          <a:noFill/>
          <a:ln/>
        </p:spPr>
        <p:txBody>
          <a:bodyPr wrap="square" lIns="0" tIns="33078" rIns="0" bIns="0" rtlCol="0" anchor="t">
            <a:noAutofit/>
          </a:bodyPr>
          <a:lstStyle/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— Continue telemetry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Inspect — Schedule team visit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Prioritise Cleaning — Dispatch crew</a:t>
            </a:r>
            <a:endParaRPr lang="en-US" sz="800" dirty="0"/>
          </a:p>
          <a:p>
            <a:pPr marL="132080" indent="-132080" algn="l">
              <a:lnSpc>
                <a:spcPct val="100000"/>
              </a:lnSpc>
              <a:buSzPct val="100000"/>
              <a:buChar char="•"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Immediate Intervention — Emergency response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26791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Low-Cost Working Prototype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15344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Scaled demonstrator: linked transparent drain chambers with fitted water‑level sensors, a flow sensor in-line, ESP32 edge node, collection tank and recirculation pump. Removable blockage segment simulates debris.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30612"/>
            <a:ext cx="1172736" cy="11727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40879" y="2830612"/>
            <a:ext cx="39515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Hardware Components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040879" y="3188295"/>
            <a:ext cx="3951586" cy="1554460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 microcontroller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Ultrasonic / pressure water-level sensor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Inline flow sensor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Pump and recirculation plumbing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Prototype enclosure and mounts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132" y="2830612"/>
            <a:ext cx="1172836" cy="11728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78635" y="2830612"/>
            <a:ext cx="395158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Demonstration Scenarios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578635" y="3188295"/>
            <a:ext cx="3951586" cy="909538"/>
          </a:xfrm>
          <a:prstGeom prst="rect">
            <a:avLst/>
          </a:prstGeom>
          <a:noFill/>
          <a:ln/>
        </p:spPr>
        <p:txBody>
          <a:bodyPr wrap="square" lIns="0" tIns="66156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NORMAL FLOW → GREEN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PARTIAL BLOCKAGE → YELLOW / ORANGE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SEVERE BLOCKAGE + HIGH FORECAST → RED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00323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From Drain Sensors to a City-Wide Risk Map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847751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Interactive GIS dashboard: point markers per drain, cluster summarisation, filter by risk band, time-slider for trend playback, and drill-down panel showing sample drain metrics. 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3019"/>
            <a:ext cx="1545889" cy="154592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414031" y="2563019"/>
            <a:ext cx="35784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Marker View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14031" y="2920702"/>
            <a:ext cx="3578433" cy="270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🟢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D01 ·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🟢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D02 ·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🟡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D03 · 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🔴</a:t>
            </a: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D04 (SAMPLE)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132" y="2563019"/>
            <a:ext cx="1545988" cy="154602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51787" y="2563019"/>
            <a:ext cx="357843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Drill-Down Details (SAMPLE)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951787" y="2920702"/>
            <a:ext cx="357843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    DRAIN D04 — Water Level: 78 cm · Flow Rate: 0.21 L/min · Level Rise: 4.5 cm/min · Forecast: 25 mm · Blockage Risk: 87% · Overflow Risk: 76% · Status: CRITICAL     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61475" y="429508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1475" y="4745732"/>
            <a:ext cx="10868745" cy="661293"/>
          </a:xfrm>
          <a:prstGeom prst="roundRect">
            <a:avLst>
              <a:gd name="adj" fmla="val 3752"/>
            </a:avLst>
          </a:prstGeom>
          <a:solidFill>
            <a:srgbClr val="E3E3E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769" y="4985445"/>
            <a:ext cx="206667" cy="1652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731" y="4952305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Numbers above are SAMPLE / DEMONSTRATION values for UI preview only.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661475" y="559306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B26BCDF-FEA9-11C9-5EA7-841242DFB2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166735"/>
              </p:ext>
            </p:extLst>
          </p:nvPr>
        </p:nvGraphicFramePr>
        <p:xfrm>
          <a:off x="1163052" y="1066800"/>
          <a:ext cx="10175507" cy="4868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0109">
                  <a:extLst>
                    <a:ext uri="{9D8B030D-6E8A-4147-A177-3AD203B41FA5}">
                      <a16:colId xmlns:a16="http://schemas.microsoft.com/office/drawing/2014/main" val="2037282096"/>
                    </a:ext>
                  </a:extLst>
                </a:gridCol>
                <a:gridCol w="3387699">
                  <a:extLst>
                    <a:ext uri="{9D8B030D-6E8A-4147-A177-3AD203B41FA5}">
                      <a16:colId xmlns:a16="http://schemas.microsoft.com/office/drawing/2014/main" val="2320370220"/>
                    </a:ext>
                  </a:extLst>
                </a:gridCol>
                <a:gridCol w="3387699">
                  <a:extLst>
                    <a:ext uri="{9D8B030D-6E8A-4147-A177-3AD203B41FA5}">
                      <a16:colId xmlns:a16="http://schemas.microsoft.com/office/drawing/2014/main" val="4060749505"/>
                    </a:ext>
                  </a:extLst>
                </a:gridCol>
              </a:tblGrid>
              <a:tr h="5517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Patent Number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/>
                        <a:t>Existing Patent Focus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/>
                        <a:t>SmartDrain's</a:t>
                      </a:r>
                      <a:r>
                        <a:rPr lang="en-IN" sz="1600" b="1" dirty="0"/>
                        <a:t> Differentiation / Potential Novelty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834645419"/>
                  </a:ext>
                </a:extLst>
              </a:tr>
              <a:tr h="103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GB2589849B - </a:t>
                      </a:r>
                      <a:r>
                        <a:rPr lang="en-IN" sz="1100" dirty="0"/>
                        <a:t>Sewer blockage detection</a:t>
                      </a:r>
                      <a:endParaRPr lang="en-IN" sz="1100" b="1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Sewer blockage detection using water-depth, flow behaviour, sensor comparison and historical flow patterns.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Combines water level + flow anomaly + rate-of-rise + rainfall forecast + historical drain condition into a unified predictive risk score.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2335248723"/>
                  </a:ext>
                </a:extLst>
              </a:tr>
              <a:tr h="103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EP3204562B1 </a:t>
                      </a:r>
                      <a:r>
                        <a:rPr lang="en-IN" sz="1100" b="0" dirty="0"/>
                        <a:t>- </a:t>
                      </a:r>
                      <a:r>
                        <a:rPr lang="en-IN" sz="1100" dirty="0"/>
                        <a:t>Assembly of a sewer and a sewer blockage detection system</a:t>
                      </a:r>
                      <a:endParaRPr lang="en-IN" sz="1100" b="1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Sewer blockage detection using pressure/back-pressure measurement and threshold-based alarm generation.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Uses non-invasive water-level and flow sensing with predictive risk analysis instead of pressure-based blockage detection.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321862546"/>
                  </a:ext>
                </a:extLst>
              </a:tr>
              <a:tr h="12023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US20240044123A1 </a:t>
                      </a:r>
                      <a:r>
                        <a:rPr lang="en-IN" sz="1100" b="0" dirty="0"/>
                        <a:t>- </a:t>
                      </a:r>
                      <a:r>
                        <a:rPr lang="en-IN" sz="1100" dirty="0"/>
                        <a:t>System for increasing and displaying effectiveness and efficiency of stormwater infrastructure</a:t>
                      </a:r>
                      <a:endParaRPr lang="en-IN" sz="1100" b="1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Monitoring stormwater infrastructure using liquid-level/flow information and electronic control of stormwater discharge.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Focuses on blockage &amp; overflow risk prediction and GIS-based maintenance prioritization rather than primarily controlling stormwater discharge.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567754204"/>
                  </a:ext>
                </a:extLst>
              </a:tr>
              <a:tr h="103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b="1" dirty="0"/>
                        <a:t>US20210340749A1 </a:t>
                      </a:r>
                      <a:r>
                        <a:rPr lang="en-IN" sz="1100" b="0" dirty="0"/>
                        <a:t>- </a:t>
                      </a:r>
                      <a:r>
                        <a:rPr lang="en-IN" sz="1100" dirty="0"/>
                        <a:t>related earlier publication of the same US stormwater patent family</a:t>
                      </a:r>
                      <a:endParaRPr lang="en-IN" sz="1100" b="1" dirty="0"/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Earlier publication in the same US stormwater patent family.</a:t>
                      </a:r>
                    </a:p>
                  </a:txBody>
                  <a:tcPr marL="39201" marR="39201" marT="19601" marB="19601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Adds multi-parameter predictive risk assessment, rainfall integration and drain-level maintenance prioritization.</a:t>
                      </a:r>
                    </a:p>
                  </a:txBody>
                  <a:tcPr marL="39201" marR="39201" marT="19601" marB="19601" anchor="ctr"/>
                </a:tc>
                <a:extLst>
                  <a:ext uri="{0D108BD9-81ED-4DB2-BD59-A6C34878D82A}">
                    <a16:rowId xmlns:a16="http://schemas.microsoft.com/office/drawing/2014/main" val="148341655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9AA6329-6605-8D5B-DAC1-D8DC44546FAB}"/>
              </a:ext>
            </a:extLst>
          </p:cNvPr>
          <p:cNvSpPr txBox="1"/>
          <p:nvPr/>
        </p:nvSpPr>
        <p:spPr>
          <a:xfrm>
            <a:off x="497305" y="232429"/>
            <a:ext cx="43941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b="1" dirty="0">
                <a:latin typeface="Arial Rounded MT Bold" panose="020F0704030504030204" pitchFamily="34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1520874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DDE1169B-2B52-9AC0-6731-A84D3CC91B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2623733"/>
              </p:ext>
            </p:extLst>
          </p:nvPr>
        </p:nvGraphicFramePr>
        <p:xfrm>
          <a:off x="528320" y="985520"/>
          <a:ext cx="10830561" cy="52527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10187">
                  <a:extLst>
                    <a:ext uri="{9D8B030D-6E8A-4147-A177-3AD203B41FA5}">
                      <a16:colId xmlns:a16="http://schemas.microsoft.com/office/drawing/2014/main" val="2860421107"/>
                    </a:ext>
                  </a:extLst>
                </a:gridCol>
                <a:gridCol w="3610187">
                  <a:extLst>
                    <a:ext uri="{9D8B030D-6E8A-4147-A177-3AD203B41FA5}">
                      <a16:colId xmlns:a16="http://schemas.microsoft.com/office/drawing/2014/main" val="340874201"/>
                    </a:ext>
                  </a:extLst>
                </a:gridCol>
                <a:gridCol w="3610187">
                  <a:extLst>
                    <a:ext uri="{9D8B030D-6E8A-4147-A177-3AD203B41FA5}">
                      <a16:colId xmlns:a16="http://schemas.microsoft.com/office/drawing/2014/main" val="3537879344"/>
                    </a:ext>
                  </a:extLst>
                </a:gridCol>
              </a:tblGrid>
              <a:tr h="343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Patent Number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/>
                        <a:t>Patent Focus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dirty="0" err="1"/>
                        <a:t>SmartDrain's</a:t>
                      </a:r>
                      <a:r>
                        <a:rPr lang="en-IN" sz="1600" b="1" dirty="0"/>
                        <a:t> Potential Differentiation</a:t>
                      </a:r>
                    </a:p>
                  </a:txBody>
                  <a:tcPr marL="14750" marR="14750" marT="7375" marB="7375" anchor="ctr"/>
                </a:tc>
                <a:extLst>
                  <a:ext uri="{0D108BD9-81ED-4DB2-BD59-A6C34878D82A}">
                    <a16:rowId xmlns:a16="http://schemas.microsoft.com/office/drawing/2014/main" val="2229166453"/>
                  </a:ext>
                </a:extLst>
              </a:tr>
              <a:tr h="1079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/>
                        <a:t>US11721191B1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Smart-city flood early warning using precipitation + drainage capacity + historical ponding + road-network information and predictive modelling.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SmartDrain</a:t>
                      </a:r>
                      <a:r>
                        <a:rPr lang="en-IN" sz="1100" dirty="0"/>
                        <a:t> works at the individual-drain level, combining actual sensor behaviour with forecast rainfall to prioritize drainage maintenance. (</a:t>
                      </a:r>
                      <a:r>
                        <a:rPr lang="en-IN" sz="1100" dirty="0">
                          <a:hlinkClick r:id="rId2" tooltip="US11721191B1 - Method and system for flood early warning in smart city based on internet of things - Google Patents"/>
                        </a:rPr>
                        <a:t>Google Patents</a:t>
                      </a:r>
                      <a:r>
                        <a:rPr lang="en-IN" sz="1100" dirty="0"/>
                        <a:t>)</a:t>
                      </a:r>
                    </a:p>
                  </a:txBody>
                  <a:tcPr marL="14750" marR="14750" marT="7375" marB="7375" anchor="ctr"/>
                </a:tc>
                <a:extLst>
                  <a:ext uri="{0D108BD9-81ED-4DB2-BD59-A6C34878D82A}">
                    <a16:rowId xmlns:a16="http://schemas.microsoft.com/office/drawing/2014/main" val="650465891"/>
                  </a:ext>
                </a:extLst>
              </a:tr>
              <a:tr h="1079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US12230116B2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IoT smart-city flood warning using precipitation, GIS/environmental information, drainage capacity and road ponding.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SmartDrain specifically creates drain-level blockage and overflow risk, rather than primarily predicting road flooding. (</a:t>
                      </a:r>
                      <a:r>
                        <a:rPr lang="en-IN" sz="1100">
                          <a:hlinkClick r:id="rId3" tooltip="US12230116B2 - Method and system for generating flood early warning information in smart city based on internet of things - Google Patents"/>
                        </a:rPr>
                        <a:t>Google Patents</a:t>
                      </a:r>
                      <a:r>
                        <a:rPr lang="en-IN" sz="1100"/>
                        <a:t>)</a:t>
                      </a:r>
                    </a:p>
                  </a:txBody>
                  <a:tcPr marL="14750" marR="14750" marT="7375" marB="7375" anchor="ctr"/>
                </a:tc>
                <a:extLst>
                  <a:ext uri="{0D108BD9-81ED-4DB2-BD59-A6C34878D82A}">
                    <a16:rowId xmlns:a16="http://schemas.microsoft.com/office/drawing/2014/main" val="1156299694"/>
                  </a:ext>
                </a:extLst>
              </a:tr>
              <a:tr h="12272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CN109814462B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Big-data urban drainage monitoring using road water level, drainage-well level, rainfall duration/intensity and historical disaster data, with graded flood warnings.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SmartDrain adds flow rate, rate-of-rise, blockage-specific risk and GIS-based maintenance prioritization. (</a:t>
                      </a:r>
                      <a:r>
                        <a:rPr lang="en-IN" sz="1100">
                          <a:hlinkClick r:id="rId4" tooltip="CN109814462B - Urban drainage network monitoring control system based on big data - Google Patents"/>
                        </a:rPr>
                        <a:t>Google Patents</a:t>
                      </a:r>
                      <a:r>
                        <a:rPr lang="en-IN" sz="1100"/>
                        <a:t>)</a:t>
                      </a:r>
                    </a:p>
                  </a:txBody>
                  <a:tcPr marL="14750" marR="14750" marT="7375" marB="7375" anchor="ctr"/>
                </a:tc>
                <a:extLst>
                  <a:ext uri="{0D108BD9-81ED-4DB2-BD59-A6C34878D82A}">
                    <a16:rowId xmlns:a16="http://schemas.microsoft.com/office/drawing/2014/main" val="4173424234"/>
                  </a:ext>
                </a:extLst>
              </a:tr>
              <a:tr h="1521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TW202223208A / TWI770695B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/>
                        <a:t>AI detection of sewer blockage and leakage using flow capacity, flow velocity, water level, rainfall and upstream/downstream data.</a:t>
                      </a:r>
                    </a:p>
                  </a:txBody>
                  <a:tcPr marL="14750" marR="14750" marT="7375" marB="737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100" dirty="0" err="1"/>
                        <a:t>SmartDrain</a:t>
                      </a:r>
                      <a:r>
                        <a:rPr lang="en-IN" sz="1100" dirty="0"/>
                        <a:t> should emphasize its maintenance-priority framework, separate blockage/overflow scores and GIS operational workflow, rather than claiming basic AI blockage detection. (</a:t>
                      </a:r>
                      <a:r>
                        <a:rPr lang="en-IN" sz="1100" dirty="0">
                          <a:hlinkClick r:id="rId5" tooltip="TW202223208A - Artificial intelligent detection system for blockage and leakage of pipe channel of sewer mainly collecting flow capacity, flow velocity and water level data of the sewer by means of a sensing apparatus - Google Patents"/>
                        </a:rPr>
                        <a:t>Google Patents</a:t>
                      </a:r>
                      <a:r>
                        <a:rPr lang="en-IN" sz="1100" dirty="0"/>
                        <a:t>)</a:t>
                      </a:r>
                    </a:p>
                  </a:txBody>
                  <a:tcPr marL="14750" marR="14750" marT="7375" marB="7375" anchor="ctr"/>
                </a:tc>
                <a:extLst>
                  <a:ext uri="{0D108BD9-81ED-4DB2-BD59-A6C34878D82A}">
                    <a16:rowId xmlns:a16="http://schemas.microsoft.com/office/drawing/2014/main" val="359246644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C9BA5983-31DC-B269-373C-C8F72910AD5D}"/>
              </a:ext>
            </a:extLst>
          </p:cNvPr>
          <p:cNvSpPr txBox="1"/>
          <p:nvPr/>
        </p:nvSpPr>
        <p:spPr>
          <a:xfrm>
            <a:off x="264160" y="164217"/>
            <a:ext cx="4392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4000" dirty="0">
                <a:latin typeface="Arial Rounded MT Bold" panose="020F0704030504030204" pitchFamily="34" charset="0"/>
              </a:rPr>
              <a:t>Literature review</a:t>
            </a:r>
          </a:p>
        </p:txBody>
      </p:sp>
    </p:spTree>
    <p:extLst>
      <p:ext uri="{BB962C8B-B14F-4D97-AF65-F5344CB8AC3E}">
        <p14:creationId xmlns:p14="http://schemas.microsoft.com/office/powerpoint/2010/main" val="7089678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8475"/>
            <a:ext cx="10868745" cy="3310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Feasibility, Impact &amp; Future Scope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661475" y="999232"/>
            <a:ext cx="53051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Approximate Prototype Budget (INR)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241028"/>
            <a:ext cx="5305193" cy="1877219"/>
          </a:xfrm>
          <a:prstGeom prst="roundRect">
            <a:avLst>
              <a:gd name="adj" fmla="val 847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1247378"/>
            <a:ext cx="5292493" cy="2330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73788" y="1294408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ESP32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952379" y="1294408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67825" y="1480443"/>
            <a:ext cx="5292493" cy="2330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73788" y="1527473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Water-level sensors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52379" y="1527473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67825" y="1713508"/>
            <a:ext cx="5292493" cy="2330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3788" y="1760538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Flow sensors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952379" y="1760538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₹400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67825" y="1946573"/>
            <a:ext cx="5292493" cy="2330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3788" y="1993602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Pump + Tubing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952379" y="1993602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67825" y="2179638"/>
            <a:ext cx="5292493" cy="2330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73788" y="2226667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Plastic boxes / structure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952379" y="2226667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7825" y="2412702"/>
            <a:ext cx="5292493" cy="2330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773788" y="2459732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supply &amp; wiring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952379" y="2459732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67825" y="2645767"/>
            <a:ext cx="5292493" cy="23306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73788" y="2692797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Miscellaneous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952379" y="2692797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₹500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67825" y="2878832"/>
            <a:ext cx="5292493" cy="23306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3788" y="2925862"/>
            <a:ext cx="357009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Estimated prototype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52379" y="2925862"/>
            <a:ext cx="25116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₹3,000–₹4,000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31377" y="952797"/>
            <a:ext cx="5305193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Expected Impact &amp; Benefits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231377" y="1232595"/>
            <a:ext cx="5305193" cy="789880"/>
          </a:xfrm>
          <a:prstGeom prst="rect">
            <a:avLst/>
          </a:prstGeom>
          <a:noFill/>
          <a:ln/>
        </p:spPr>
        <p:txBody>
          <a:bodyPr wrap="square" lIns="0" tIns="42382" rIns="0" bIns="0" rtlCol="0" anchor="t">
            <a:no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Earlier identification of abnormal drainage behaviour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Prioritised maintenance reduces municipal response time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Reduced dependence on complaint-driven inspection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Low-cost nodes allow dense network coverage for pilots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GIS-based view supports operational planning and trend analysis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61475" y="3270845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8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1475" y="3511649"/>
            <a:ext cx="10868745" cy="165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Future Scope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1475" y="3778945"/>
            <a:ext cx="10868745" cy="952599"/>
          </a:xfrm>
          <a:prstGeom prst="rect">
            <a:avLst/>
          </a:prstGeom>
          <a:noFill/>
          <a:ln/>
        </p:spPr>
        <p:txBody>
          <a:bodyPr wrap="square" lIns="0" tIns="42382" rIns="0" bIns="0" rtlCol="0" anchor="t">
            <a:noAutofit/>
          </a:bodyPr>
          <a:lstStyle/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LoRaWAN / mesh for long-range, low-power communication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Solar-powered sensor nodes for energy autonomy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Flow-powered autonomous nodes at high-discharge drains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with official rainfall stations and municipal GIS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Automated maintenance-ticket generation and crew routing</a:t>
            </a:r>
            <a:endParaRPr lang="en-US" sz="1000" dirty="0"/>
          </a:p>
          <a:p>
            <a:pPr marL="162560" indent="-162560" algn="l">
              <a:lnSpc>
                <a:spcPct val="109000"/>
              </a:lnSpc>
              <a:buSzPct val="100000"/>
              <a:buChar char="•"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Pilot to city-scale phased rollout after experimental calibration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61475" y="4807843"/>
            <a:ext cx="114783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61475" y="5445621"/>
            <a:ext cx="10868745" cy="9138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SMARTDRAIN — Monitor Drainage. Predict Risk. Prioritize Action.</a:t>
            </a:r>
            <a:endParaRPr lang="en-US" sz="2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1445</Words>
  <Application>Microsoft Office PowerPoint</Application>
  <PresentationFormat>Widescreen</PresentationFormat>
  <Paragraphs>187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Playfair Display Bold</vt:lpstr>
      <vt:lpstr>Open Sans</vt:lpstr>
      <vt:lpstr>Open Sans Bold</vt:lpstr>
      <vt:lpstr>Arial Rounded MT Bold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Dr Ashok Kumar Kashyap</dc:creator>
  <cp:lastModifiedBy>Dr Ashok Kumar Kashyap</cp:lastModifiedBy>
  <cp:revision>5</cp:revision>
  <dcterms:created xsi:type="dcterms:W3CDTF">2026-08-21T11:56:22Z</dcterms:created>
  <dcterms:modified xsi:type="dcterms:W3CDTF">2026-09-06T10:08:33Z</dcterms:modified>
</cp:coreProperties>
</file>